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icrosoft JhengHei"/>
              </a:rPr>
              <a:t>RD Design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97316"/>
                </a:solidFill>
                <a:latin typeface="Microsoft JhengHei"/>
              </a:rPr>
              <a:t>讓每一次設計決策，都比上次更接近真相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5DBE1"/>
                </a:solidFill>
                <a:latin typeface="Microsoft JhengHei"/>
              </a:rPr>
              <a:t>Externalize  ·  Trace  · 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BD × RD 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BE1"/>
                </a:solidFill>
                <a:latin typeface="Microsoft JhengHei"/>
              </a:rPr>
              <a:t>2026 Q2  ·  e-Bike 產品線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1645920"/>
            <a:ext cx="1097280" cy="10972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283464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「你一定遇過」— RD 的七個真實痛點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資料來源：PRD_RD_Design_Copilot.md §3.3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經驗鎖定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方案探索只有 1-2 條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跳不出熟悉架構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371600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371600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554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腦內庫存有限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33172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跨域知識缺失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SCAMPER / TRIZ 答不出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1371600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1371600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1554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假設隱藏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33172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前提沒被翻出來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後期才發現，返工最貴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1371600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0576" y="1371600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9176" y="1554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3536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風險後置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33172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拖到原型才爆炸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架構級返工 3-5 次/專案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76472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76472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593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0050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決策不可追溯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36592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「為什麼選這個？」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無人記得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4992" y="3776472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64992" y="3776472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39593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7952" y="40050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溝通斷層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3592" y="4736592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RD/PM/老闆各說各話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評審 3-4 hr/次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3776472"/>
            <a:ext cx="2743200" cy="22402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2784" y="3776472"/>
            <a:ext cx="91440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1384" y="39593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5744" y="40050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Microsoft JhengHei"/>
              </a:rPr>
              <a:t>證據缺口不可見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4736592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Gate Review 流於形式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沒人知道缺什麼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0576" y="3776472"/>
            <a:ext cx="2743200" cy="22402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0576" y="3776472"/>
            <a:ext cx="9144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9593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1F2D3D"/>
                </a:solidFill>
                <a:latin typeface="Microsoft JhengHei"/>
              </a:rPr>
              <a:t>⚙️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40050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共同根因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9176" y="4736592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隱性 · 無追溯 · 無驗證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流程缺基礎設施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這些痛點的共同根因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不是 RD 不努力，是流程缺一層基礎設施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0B2545"/>
                </a:solidFill>
                <a:latin typeface="Microsoft JhengHei"/>
              </a:rPr>
              <a:t>隱性  ×  無追溯  ×  無驗證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61188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361188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隱性 (Implicit)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假設 / 決策依據都在腦袋裡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沒有被寫下，無法被審查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926080"/>
            <a:ext cx="361188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926080"/>
            <a:ext cx="361188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99923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無追溯 (Untraceable)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6616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沒有 artifact、沒有版本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經驗無法累積、無法複用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926080"/>
            <a:ext cx="361188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926080"/>
            <a:ext cx="361188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9923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無驗證 (Unverified)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6616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LLM 的數字「在它的想像裡」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沒被算術或資料庫校驗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Microsoft JhengHei"/>
              </a:rPr>
              <a:t>➜ 我們要建的不是另一個 LLM，而是把隱性變顯性的基礎設施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系統使命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引用 PRD_RD_Design_Copilot.md §1.1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Microsoft JhengHei"/>
              </a:rPr>
              <a:t>把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Microsoft JhengHei"/>
              </a:rPr>
              <a:t>「未知」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Microsoft JhengHei"/>
              </a:rPr>
              <a:t>變成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94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97316"/>
                </a:solidFill>
                <a:latin typeface="Microsoft JhengHei"/>
              </a:rPr>
              <a:t>可追蹤的假設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Microsoft JhengHei"/>
              </a:rPr>
              <a:t>「靈感」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63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Microsoft JhengHei"/>
              </a:rPr>
              <a:t>變成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9718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97316"/>
                </a:solidFill>
                <a:latin typeface="Microsoft JhengHei"/>
              </a:rPr>
              <a:t>可審查的方案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Microsoft JhengHei"/>
              </a:rPr>
              <a:t>「試錯」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8404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Microsoft JhengHei"/>
              </a:rPr>
              <a:t>變成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7490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97316"/>
                </a:solidFill>
                <a:latin typeface="Microsoft JhengHei"/>
              </a:rPr>
              <a:t>最小實驗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並用數位線索連結所有設計工件與證據。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Microsoft JhengHei"/>
              </a:rPr>
              <a:t>Externalize  ·  Trace  ·  Audit     —    顯式化 · 追蹤化 · 審查化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5 大產品目標 × 對應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PRD §2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64008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371600"/>
            <a:ext cx="3931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4630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目標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371600"/>
            <a:ext cx="228600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對應痛點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371600"/>
            <a:ext cx="457200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KPI 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74520"/>
            <a:ext cx="6400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O1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187452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05740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擴大可能性空間、破除路徑依賴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87452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經驗鎖定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87452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057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方案探索 ≥3 條（含 Anti-Anchor 非對標）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51760"/>
            <a:ext cx="64008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O2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2651760"/>
            <a:ext cx="39319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283464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讓未知可見、可追蹤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651760"/>
            <a:ext cx="22860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2834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假設隱藏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651760"/>
            <a:ext cx="45720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8346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假設驗證覆蓋率 ≥80%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29000"/>
            <a:ext cx="6400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O3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42900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36118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前置風險驗證、證據驅動決策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342900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611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風險後置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42900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611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返工 ≤2 次；證據缺口識別 ≥90%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06240"/>
            <a:ext cx="64008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O4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" y="4206240"/>
            <a:ext cx="39319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8912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決策可審查、可複用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4206240"/>
            <a:ext cx="22860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4389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決策不可追溯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206240"/>
            <a:ext cx="45720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43891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100% 追溯率（KT 記錄）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83480"/>
            <a:ext cx="6400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166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O5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498348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516636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跨層級溝通效率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498348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4920" y="5166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溝通斷層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498348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5166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單次評審時間 ≤2 hr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架構全貌 — 5 層堆疊（C4 Model）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「LLM 負責創造、純算術負責驗證、資料庫負責累積」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463040"/>
            <a:ext cx="91440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642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L1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463040"/>
            <a:ext cx="886968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572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Microsoft JhengHei"/>
              </a:rPr>
              <a:t>UI 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745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React SPA + 工作區視覺化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395728"/>
            <a:ext cx="91440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9689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L2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395728"/>
            <a:ext cx="886968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5054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Microsoft JhengHei"/>
              </a:rPr>
              <a:t>編排層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807208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Step 流轉 / Gate 判定 / Artifact 生命週期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328416"/>
            <a:ext cx="91440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529584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L3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328416"/>
            <a:ext cx="886968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4381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Microsoft JhengHei"/>
              </a:rPr>
              <a:t>AI Agent 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39896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Analyst · TRIZ Solver · Evaluator · Knowledge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4261104"/>
            <a:ext cx="91440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6227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L4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4261104"/>
            <a:ext cx="886968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43708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Microsoft JhengHei"/>
              </a:rPr>
              <a:t>Tool / Service 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672584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TRIZ KB · Spatial Validator · MUST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5193792"/>
            <a:ext cx="91440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394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L5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193792"/>
            <a:ext cx="886968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Microsoft JhengHei"/>
              </a:rPr>
              <a:t>Data 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605272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Supabase Postgres · Vector DB · Seed 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  <a:latin typeface="Microsoft JhengHei"/>
              </a:rPr>
              <a:t>✦  關鍵原則：LLM 創造 → 純算術驗證 → 資料庫覆寫 → 下游消費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4 個 AI Agent 的角色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誰做什麼 · 輸入輸出一目瞭然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2788920" cy="4480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78892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087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職責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需求解構 · 蘇格拉底問答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矛盾掃描 · 假設質疑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091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Constraint / Contradiction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Assumption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371600"/>
            <a:ext cx="2788920" cy="4480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128" y="1371600"/>
            <a:ext cx="278892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5087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TRIZ 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19456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職責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42316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三層求解 L1/L2/L3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子系統拆解 · SCAMPER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7033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931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Contradiction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7091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LayeredTrizSolution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Concept Route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1371600"/>
            <a:ext cx="2788920" cy="4480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1371600"/>
            <a:ext cx="278892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15087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Evaluator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19456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職責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242316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MUST 規則驗證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KT 決策 · Gate 判定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7033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3931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Concept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47091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Validation Passport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Decision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07424" y="1371600"/>
            <a:ext cx="2788920" cy="4480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07424" y="1371600"/>
            <a:ext cx="278892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5087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219456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職責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242316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企業 RAG · Web 搜尋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跨域類比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37033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3931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Query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▸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47091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Reference /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工具層 — 關鍵三件套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LLM 產出的數字，一定會被真值覆寫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657600" cy="4572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3657600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TRIZ 知識庫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019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5 份 Markdown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39 工程參數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矛盾矩陣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40 發明原理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4 分離原則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76 標準解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3657600" cy="4572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508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MUST 規則引擎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9019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6 條硬規則 M1–M6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M1 空間 · M2 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M3 安全 · M4 解耦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M5 供應 · M6 製造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E0–E4 證據分級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Gate 快篩輸出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371600"/>
            <a:ext cx="3657600" cy="4572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371600"/>
            <a:ext cx="3657600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508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純算術驗證器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019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不呼叫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Spatial Discovery Validator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Layered Spatial Resolver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跨 5 層真值查找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Package Map 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anchor / bbox 保護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10 種核心工件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從 Brief 到 Asset 的完整生命週期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80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463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463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103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783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Contradiction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880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2-3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463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463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103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783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Assumption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880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2-4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463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1463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2103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783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Breakpoint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880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463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463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1783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Concept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880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5-7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49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749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389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069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Interface</a:t>
            </a:r>
          </a:p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Contract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166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5-6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3749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97480" y="3749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4389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069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Evidence</a:t>
            </a:r>
          </a:p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Matrix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166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3749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749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389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069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Risk</a:t>
            </a:r>
          </a:p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5166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3749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60920" y="3749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4389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069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Validation</a:t>
            </a:r>
          </a:p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Passport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5166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5-6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3749040"/>
            <a:ext cx="219456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92640" y="3749040"/>
            <a:ext cx="5486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43891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8440" y="40690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Decision</a:t>
            </a:r>
          </a:p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Record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8440" y="51663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Microsoft JhengHei"/>
              </a:rPr>
              <a:t>Step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資料流與驗證封閉迴圈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RD 最在意的「數字可不可信」正面回應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2468880" cy="14630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LLM 產出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結構化候選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3154680"/>
            <a:ext cx="22860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560320"/>
            <a:ext cx="2468880" cy="1463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34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純算術驗證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37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真值覆寫幻覺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60720" y="3154680"/>
            <a:ext cx="22860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560320"/>
            <a:ext cx="2468880" cy="1463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34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資料庫持久化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337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Artifact 累積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49640" y="3154680"/>
            <a:ext cx="22860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560320"/>
            <a:ext cx="2468880" cy="14630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834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下游消費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337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SCAMPER / Pre-CAD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JhengHei"/>
              </a:rPr>
              <a:t>↻  回饋：下游發現問題 → 更新 Assumption / Evidence → 重啟相應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394960"/>
            <a:ext cx="941832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48640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✦  LLM 的數字一定會被真值覆寫，不再「拍腦袋」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模組關係圖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單張總圖：Forward 軌（正向）+ Reverse 軌（反向）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108960"/>
            <a:ext cx="246888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2461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Orchestrator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463040"/>
            <a:ext cx="24688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54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UI (React SPA)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5486400"/>
            <a:ext cx="24688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5577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Postgres + Vector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77440"/>
            <a:ext cx="384048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23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Forward 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Analyst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TRIZ Solver (L1/L2/L3)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Subsystem Discovery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8056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SCAMPER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377440"/>
            <a:ext cx="384048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423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Reverse 軌（Anti-Anchor）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297180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First Principles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47472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Cross-domain Analogy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397764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Validation Passport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4480560"/>
            <a:ext cx="38404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▸ ≥3 非對標路線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572000"/>
            <a:ext cx="24688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663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Decision Hub (5d)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E2E 流程總覽 — 3 Phase × 8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每個 Gate 都是可否決的檢查點，不是 rubber 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794760" cy="41148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79476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Phase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7452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定義問題空間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78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問題界定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84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蘇格拉底問答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902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系統建模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463040"/>
            <a:ext cx="3794760" cy="41148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463040"/>
            <a:ext cx="379476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55448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Phase 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187452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假設與發散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46888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578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834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假設 &amp; 驗證規劃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47472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584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404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創造與調整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448056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5902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Pre-CAD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463040"/>
            <a:ext cx="3794760" cy="41148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1463040"/>
            <a:ext cx="379476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55448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Phase III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187452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收斂與驗證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46888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578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834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設計審查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47472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584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8404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決策與行動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480560"/>
            <a:ext cx="32461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45902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Microsoft JhengHei"/>
              </a:rPr>
              <a:t>Step 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內化與傳達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Microsoft JhengHei"/>
              </a:rPr>
              <a:t>Gate 1 → 2 → 3 → 4 → P → C → 7 → 8     共 8 個檢查點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Phase I｜Brief → 問題界定 → 矛盾識別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把『隱藏假設』逼出來，Gate 3 出口有量化門檻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4630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5DBE1"/>
                </a:solidFill>
                <a:latin typeface="Microsoft JhengHei"/>
              </a:rPr>
              <a:t>問題界定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463040"/>
            <a:ext cx="9692640" cy="12801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64592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Constraint（硬/軟/非目標/KPI）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輸入：Brief + 客戶需求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輸出：Constraint 工件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4630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5DBE1"/>
                </a:solidFill>
                <a:latin typeface="Microsoft JhengHei"/>
              </a:rPr>
              <a:t>蘇格拉底問答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971800"/>
            <a:ext cx="9692640" cy="12801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15468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Analyst Agent 連環提問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把「隱藏假設」翻出來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輸出：Contradiction + Assumption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14630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66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5DBE1"/>
                </a:solidFill>
                <a:latin typeface="Microsoft JhengHei"/>
              </a:rPr>
              <a:t>系統建模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480560"/>
            <a:ext cx="9692640" cy="12801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66344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因果迴路圖 + TRIZ 正式化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找到可介入斷路點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輸出：Breakpoint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Gate 3 出口條件：≥1 因果迴路  ·  ≥3 斷路點  ·  ≥3 核心矛盾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Phase II｜探索 · Subsystem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Step 5b：System → Module → Component 三層拆解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645920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>整車層級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371600"/>
            <a:ext cx="4663440" cy="1051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6459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Mission  ·  KPI  · 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645920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>模組層級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606040"/>
            <a:ext cx="4663440" cy="1051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2880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動力  ·  傳動  ·  控制  ·  結構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645920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>零件層級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840480"/>
            <a:ext cx="4663440" cy="1051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41148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Motor  ·  Battery  ·  BMS  ·  Frame 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371600"/>
            <a:ext cx="4480560" cy="3840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371600"/>
            <a:ext cx="4480560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4173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6 維介面合約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Microsoft JhengHei"/>
              </a:rPr>
              <a:t>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130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尺寸 (Geometry)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Microsoft JhengHei"/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功能 (Function)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0540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Microsoft JhengHei"/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081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熱 (Thermal)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5295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Microsoft JhengHei"/>
              </a:rPr>
              <a:t>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5570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振動 (Vibration)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0050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Microsoft JhengHei"/>
              </a:rPr>
              <a:t>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0325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控制 (Control)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480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Microsoft JhengHei"/>
              </a:rPr>
              <a:t>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5079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成本 (Cost)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640080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7784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✦ Spatial Validator 純算術驗證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    防 LLM 幻覺 · 真值覆寫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Phase II｜正向分析 · Forward TRIZ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TRIZ 三層 drill-down — L1 必跑 / L2 有條件 / L3 平行必跑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91440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371600"/>
            <a:ext cx="210312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44475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名稱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182880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447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是否必跑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371600"/>
            <a:ext cx="393192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4447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447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意義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28800"/>
            <a:ext cx="9144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2996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Microsoft JhengHei"/>
              </a:rPr>
              <a:t>L1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828800"/>
            <a:ext cx="21031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0299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TC 現象層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828800"/>
            <a:ext cx="18288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02996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✅ 必跑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828800"/>
            <a:ext cx="39319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202996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39 參數 + 矛盾矩陣 + 40 原理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828800"/>
            <a:ext cx="265176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0299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快掃表象衝突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06040"/>
            <a:ext cx="9144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8072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Microsoft JhengHei"/>
              </a:rPr>
              <a:t>L2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2606040"/>
            <a:ext cx="21031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280720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PC 本質層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606040"/>
            <a:ext cx="18288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80720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⛔ 有條件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606040"/>
            <a:ext cx="39319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8072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4 分離原則（時/空/條件/整體）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606040"/>
            <a:ext cx="265176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80720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深挖物理兩難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383280"/>
            <a:ext cx="9144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58444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Microsoft JhengHei"/>
              </a:rPr>
              <a:t>L3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3383280"/>
            <a:ext cx="21031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358444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SF 結構層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3383280"/>
            <a:ext cx="182880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5844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✅ 平行必跑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3383280"/>
            <a:ext cx="39319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358444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76 標準解 + Su-Field 模型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3383280"/>
            <a:ext cx="265176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584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結構旁路檢查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389120"/>
            <a:ext cx="1143000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關鍵澄清：TC / PC / SF 不是互斥分類，而是同一矛盾的三層視角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JhengHei"/>
              </a:rPr>
              <a:t>L2 觸發條件：L1 全是折衷  ·  L1 hits ≤ 2  ·  矛盾 severity ≥ major  ·  RD 手動深挖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JhengHei"/>
              </a:rPr>
              <a:t>輸出工件：LayeredTrizSolution（可選採納深度）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Phase II｜反向分析 · Anti-Anchor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Reverse_Anti_Anchor_Architecture.md §1.2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3000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What is Anti-Anchor?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「從第一性原理出發、強制跨領域類比、自我標記假設強度」的非典型架構產生器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Microsoft JhengHei"/>
              </a:rPr>
              <a:t>為什麼需要？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RD 路徑依賴：無意識從主流架構微調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LLM 路徑依賴：把訓練資料常見品重新包裝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• 傳統 TRIZ 只產出「更好的舊架構」，不是「新架構」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43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Microsoft JhengHei"/>
              </a:rPr>
              <a:t>三個核心約束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3657600" cy="1554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92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物理不相容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03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Microsoft JhengHei"/>
              </a:rPr>
              <a:t>≥1 條路線必須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Microsoft JhengHei"/>
              </a:rPr>
              <a:t>與竞品物理路徑不相容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754880"/>
            <a:ext cx="3657600" cy="1554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8463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Microsoft Jheng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892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自我誠實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303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Microsoft JhengHei"/>
              </a:rPr>
              <a:t>每條路線附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Microsoft JhengHei"/>
              </a:rPr>
              <a:t>Validation Passport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754880"/>
            <a:ext cx="3657600" cy="1554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8463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892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Microsoft JhengHei"/>
              </a:rPr>
              <a:t>Schema 共用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303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Microsoft JhengHei"/>
              </a:rPr>
              <a:t>輸出可直接晉升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Microsoft JhengHei"/>
              </a:rPr>
              <a:t>正向候選池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正反向匯流 — Step 5d Decision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Phase B 矛盾掃描 → MUST 快篩 → Pre-CAD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65760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Forward 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• TRIZ L1/L2/L3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• Subsystem Discovery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• SCAMPER 變形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657600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Reverse 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• Anti-Anchor Sprint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• 第一性原理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• 跨域類比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6240" y="2286000"/>
            <a:ext cx="731520" cy="457200"/>
          </a:xfrm>
          <a:prstGeom prst="rightArrow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7269480" y="2286000"/>
            <a:ext cx="731520" cy="457200"/>
          </a:xfrm>
          <a:prstGeom prst="lef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103120" cy="21031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8288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B2545"/>
                </a:solidFill>
                <a:latin typeface="Microsoft JhengHei"/>
              </a:rPr>
              <a:t>Decision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97316"/>
                </a:solidFill>
                <a:latin typeface="Microsoft JhengHei"/>
              </a:rPr>
              <a:t>Step 5d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JhengHei"/>
              </a:rPr>
              <a:t>候選池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26060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Phase B 矛盾掃描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81528" y="4617720"/>
            <a:ext cx="146304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4114800"/>
            <a:ext cx="26060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MUST 快篩 (E0-E1)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870448" y="4617720"/>
            <a:ext cx="146304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4114800"/>
            <a:ext cx="26060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Pre-CAD Review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659368" y="4617720"/>
            <a:ext cx="146304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4114800"/>
            <a:ext cx="2606040" cy="1280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保留 3-5 條最優路線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Phase III｜收斂與證據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Evidence Matrix · Risk Register · KT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6459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>設計審查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371600"/>
            <a:ext cx="9601200" cy="10058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50876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設計審查 (CAD Gate)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87452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Evidence Matrix + Risk Register + MVP CAD → Gate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16459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6e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560320"/>
            <a:ext cx="9601200" cy="10058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6974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證據補齊（迴圈）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632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最小實驗設計 · 證據等級升級 (E0→E4)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16459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86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749040"/>
            <a:ext cx="9601200" cy="10058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38862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決策與行動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2519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KT Decision Analysis → Decision Record (100% 可追溯)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37760"/>
            <a:ext cx="16459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Step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40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5DBE1"/>
                </a:solidFill>
                <a:latin typeface="Microsoft JhengHe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937760"/>
            <a:ext cx="9601200" cy="10058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50749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內化與傳達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4406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Asset 知識回寫 → 下一個專案冷啟動 Seed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最終產出物 — RD 會拿到什麼？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三大報告 + 配套工件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657600" cy="39319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365760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MUST Rulebook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5DBE1"/>
                </a:solidFill>
                <a:latin typeface="Microsoft JhengHei"/>
              </a:rPr>
              <a:t>6 條硬規則 M1-M6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M1 空間 / M2 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M3 安全 / M4 解耦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M5 供應 / M6 製造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E0-E4 證據分級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371600"/>
            <a:ext cx="3657600" cy="39319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365760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Evidence Matrix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× Risk 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057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5DBE1"/>
                </a:solidFill>
                <a:latin typeface="Microsoft JhengHei"/>
              </a:rPr>
              <a:t>假設 × 證據 × 風險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關鍵假設清單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證據等級 E0-E4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657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Top-10 風險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緩解措施 + Owner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371600"/>
            <a:ext cx="3657600" cy="39319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371600"/>
            <a:ext cx="365760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08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Pre-CAD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057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5DBE1"/>
                </a:solidFill>
                <a:latin typeface="Microsoft JhengHei"/>
              </a:rPr>
              <a:t>5 維評分 + 3-5 條路線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Spatial / Thermal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Cost / Manufacturability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57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Risk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✓  下一步 MVP CAD 範圍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  <a:latin typeface="Microsoft JhengHei"/>
              </a:rPr>
              <a:t>＋ Validation Passport × N  ·  Decision Record (KT)  ·  Interface Contract (6 維)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這不是另一個 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對照差異一目瞭然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28600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411480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447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ChatGPT / Gemini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371600"/>
            <a:ext cx="521208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4447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RD Design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84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知識來源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82880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98424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網路雜訊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82880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9842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企業 RAG + TRIZ KB + 種子資料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228600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78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數字可信度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423160"/>
            <a:ext cx="411480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25786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LLM 幻覺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423160"/>
            <a:ext cx="521208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5786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純算術驗證 + 資料庫覆寫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1752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1729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流程結構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01752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17296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無狀態對話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01752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1729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8 Step × 8 Gate 狀態機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11880"/>
            <a:ext cx="228600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767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假設管理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611880"/>
            <a:ext cx="411480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376732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隱性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3611880"/>
            <a:ext cx="521208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767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Validation Passport + Evidence Matrix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20624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3616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決策追溯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420624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436168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420624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4361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KT Decision Record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800600"/>
            <a:ext cx="228600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9560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反偏誤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4800600"/>
            <a:ext cx="411480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495604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800600"/>
            <a:ext cx="5212080" cy="594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4956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Anti-Anchor + 矛盾收斂掃描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39496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5504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Microsoft JhengHei"/>
              </a:rPr>
              <a:t>產出可審查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539496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88920" y="55504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段落文字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539496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5550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Microsoft JhengHei"/>
              </a:rPr>
              <a:t>結構化工件 + Gate 判定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自動化分級 — RD 永遠是最終決策者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AI 消除重複腦力與盲點，不取代判斷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46888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Human-Led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371600"/>
            <a:ext cx="365760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RD 決策，AI 記錄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37160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600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JhengHei"/>
              </a:rPr>
              <a:t>Step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246888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AI-Assisted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331720"/>
            <a:ext cx="365760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5603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RD 主導，AI 協助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33172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560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JhengHei"/>
              </a:rPr>
              <a:t>Step 1 · 4 · 6 · 6e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246888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AI-Driven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3291840"/>
            <a:ext cx="365760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520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AI 主導，RD 審核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29184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5204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JhengHei"/>
              </a:rPr>
              <a:t>Step 2 · 3 · 5b · 5d · 5e · P 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246888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Fully 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4251960"/>
            <a:ext cx="3657600" cy="8229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4805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AI 獨立產出，RD 選擇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25196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480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JhengHei"/>
              </a:rPr>
              <a:t>Step 5-0 · 5a · 5c · 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RD 永遠是最終決策者，AI 負責消除重複腦力勞動與盲點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對 RD 的具體收益（量化）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從「感覺有用」到「數字會說話」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749039" cy="2194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49039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方案探索時間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Microsoft JhengHei"/>
              </a:rPr>
              <a:t>2 天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40279" y="251460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4231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Microsoft JhengHei"/>
              </a:rPr>
              <a:t>0.5 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371600"/>
            <a:ext cx="3749039" cy="2194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371600"/>
            <a:ext cx="3749039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39" y="14630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146304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架構級返工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148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Before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4231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Microsoft JhengHei"/>
              </a:rPr>
              <a:t>3-5 次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26478" y="251460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24231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Microsoft JhengHei"/>
              </a:rPr>
              <a:t>≤2 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8" y="1371600"/>
            <a:ext cx="3749039" cy="2194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8" y="1371600"/>
            <a:ext cx="3749039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8" y="14630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78" y="146304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假設驗證覆蓋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8" y="2148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8" y="24231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Microsoft JhengHei"/>
              </a:rPr>
              <a:t>&lt;30%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012677" y="251460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8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8" y="24231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Microsoft JhengHei"/>
              </a:rPr>
              <a:t>≥80%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49040"/>
            <a:ext cx="3749039" cy="2194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749040"/>
            <a:ext cx="3749039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84048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決策追溯率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5262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Before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8006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Microsoft JhengHei"/>
              </a:rPr>
              <a:t>~0%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240279" y="489204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After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4800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Microsoft JhengHei"/>
              </a:rP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3749040"/>
            <a:ext cx="3749039" cy="2194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59" y="3749040"/>
            <a:ext cx="3749039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39" y="3840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79" y="384048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單次設計評審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45262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Before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79" y="48006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Microsoft JhengHei"/>
              </a:rPr>
              <a:t>3-4 hr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126478" y="489204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59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After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59" y="4800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Microsoft JhengHei"/>
              </a:rPr>
              <a:t>≤2 hr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58" y="3749040"/>
            <a:ext cx="3749039" cy="21945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58" y="3749040"/>
            <a:ext cx="3749039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38" y="3840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Microsoft JhengHei"/>
              </a:rPr>
              <a:t>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78" y="384048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經驗資產化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78" y="45262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Before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8" y="48006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Microsoft JhengHei"/>
              </a:rPr>
              <a:t>個人腦袋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0012677" y="489204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58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Microsoft JhengHei"/>
              </a:rPr>
              <a:t>After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58" y="4800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Microsoft JhengHei"/>
              </a:rPr>
              <a:t>團隊 artifact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我們需要 RD 提供什麼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引用 docs/raw/簡報內容.md 第 5 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82296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371600"/>
            <a:ext cx="103327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Brief 與約束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硬目標 / 軟目標 / 非目標 / KPI 門檻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82296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286000"/>
            <a:ext cx="103327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歷史設計 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697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舊專案的矛盾、假設、決策 → 冷啟動 Seed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82296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200400"/>
            <a:ext cx="103327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關鍵零件真值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11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datasheet、尺寸、熱/電參數 → 覆寫 LLM 幻覺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82296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114800"/>
            <a:ext cx="103327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2-3 位 RD 工程師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26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擔任 Design Partner，參與 Gate 審核迭代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82296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029200"/>
            <a:ext cx="10332720" cy="7772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Microsoft JhengHei"/>
              </a:rPr>
              <a:t>1-2 個 Pilot 專案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Microsoft JhengHei"/>
              </a:rPr>
              <a:t>建議選「中風險」專案作為試點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我們提供什麼 &amp; 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BE1"/>
                </a:solidFill>
                <a:latin typeface="Microsoft JhengHei"/>
              </a:rPr>
              <a:t>6 個月分 3 階段，每階段可獨立驗收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97316"/>
                </a:solidFill>
                <a:latin typeface="Microsoft JhengHe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RD Design Copilot  ·  BD × RD 合作提案  ·  2026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749039" cy="34747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749039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Phase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  <a:latin typeface="Microsoft JhengHei"/>
              </a:rPr>
              <a:t>Month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320039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TRIZ KB + Forward 軌 MVP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跑通 Step 1-3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第一次 Gate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399" y="1371600"/>
            <a:ext cx="3749039" cy="34747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399" y="1371600"/>
            <a:ext cx="3749039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48132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Phase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1938528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  <a:latin typeface="Microsoft JhengHei"/>
              </a:rPr>
              <a:t>Month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651760"/>
            <a:ext cx="320039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Reverse Anti-Anchor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Decision Hub (5d)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Pre-CAD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1371600"/>
            <a:ext cx="3749039" cy="34747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8" y="1371600"/>
            <a:ext cx="3749039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148132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Phase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1938528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  <a:latin typeface="Microsoft JhengHei"/>
              </a:rPr>
              <a:t>Month 5-6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8" y="2651760"/>
            <a:ext cx="320039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Evidence Matrix + Pre-CAD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知識回寫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Microsoft JhengHei"/>
              </a:rPr>
              <a:t>Pilot 專案結案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Future Extension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設計審查自動化  ·  製造可行性評估  ·  Simulation 介接  ·  企業知識資產沉澱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5DBE1"/>
                </a:solidFill>
                <a:latin typeface="Microsoft JhengHei"/>
              </a:rPr>
              <a:t>三個動詞，一個承諾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Microsoft JhengHei"/>
              </a:rPr>
              <a:t>Externalize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97316"/>
                </a:solidFill>
                <a:latin typeface="Microsoft JhengHei"/>
              </a:rPr>
              <a:t>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Microsoft JhengHei"/>
              </a:rPr>
              <a:t>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5DBE1"/>
                </a:solidFill>
                <a:latin typeface="Microsoft JhengHei"/>
              </a:rPr>
              <a:t>讓你的每一個設計決策，都成為下一次設計的加速器。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➜ 下週啟動 Kick-off  ·  挑 1 個 pilot 專案  ·  6 週內看到可驗證成果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